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1371600"/>
            <a:ext cx="9448495" cy="4114800"/>
          </a:xfrm>
          <a:prstGeom prst="roundRect">
            <a:avLst/>
          </a:prstGeom>
          <a:solidFill>
            <a:srgbClr val="151C2D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011680"/>
            <a:ext cx="85340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8FAFC"/>
                </a:solidFill>
                <a:latin typeface="Trebuchet MS"/>
              </a:defRPr>
            </a:pPr>
            <a:r>
              <a:t>🚗 DriveVerse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108960"/>
            <a:ext cx="8534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i="1">
                <a:solidFill>
                  <a:srgbClr val="06B6D4"/>
                </a:solidFill>
                <a:latin typeface="Calibri"/>
              </a:defRPr>
            </a:pPr>
            <a:r>
              <a:t>One Identity. Every Vehicle Service.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023360"/>
            <a:ext cx="8534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94A3B8"/>
                </a:solidFill>
                <a:latin typeface="Calibri"/>
              </a:defRPr>
            </a:pPr>
            <a:r>
              <a:t>Presented by:</a:t>
            </a:r>
          </a:p>
          <a:p>
            <a:pPr algn="ctr">
              <a:defRPr sz="1800" b="1">
                <a:solidFill>
                  <a:srgbClr val="F8FAFC"/>
                </a:solidFill>
                <a:latin typeface="Trebuchet MS"/>
              </a:defRPr>
            </a:pPr>
            <a:r>
              <a:t>Rishik Jariwala  &amp;  Jash Chothani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Calibri"/>
              </a:defRPr>
            </a:pPr>
            <a:r>
              <a:t>01. PROBLEM &amp; MARKET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Trebuchet MS"/>
              </a:defRPr>
            </a:pPr>
            <a:r>
              <a:t>The Problem &amp; Existing Gaps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297680"/>
          </a:xfrm>
          <a:prstGeom prst="roundRect">
            <a:avLst/>
          </a:prstGeom>
          <a:solidFill>
            <a:srgbClr val="151C2D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457200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06B6D4"/>
                </a:solidFill>
                <a:latin typeface="Trebuchet MS"/>
              </a:defRPr>
            </a:pPr>
            <a:r>
              <a:t>Problem Statement</a:t>
            </a:r>
          </a:p>
          <a:p>
            <a:pPr>
              <a:spcBef>
                <a:spcPts val="800"/>
              </a:spcBef>
              <a:defRPr sz="1400" b="1">
                <a:solidFill>
                  <a:srgbClr val="F8FAFC"/>
                </a:solidFill>
                <a:latin typeface="Trebuchet MS"/>
              </a:defRPr>
            </a:pPr>
            <a:r>
              <a:t>⚠️ Information Silos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Documents (DL, RC, Insurance, PUC) are scattered across physical files, email threads, and disjointed portals.</a:t>
            </a:r>
          </a:p>
          <a:p>
            <a:pPr>
              <a:spcBef>
                <a:spcPts val="800"/>
              </a:spcBef>
              <a:defRPr sz="1400" b="1">
                <a:solidFill>
                  <a:srgbClr val="F8FAFC"/>
                </a:solidFill>
                <a:latin typeface="Trebuchet MS"/>
              </a:defRPr>
            </a:pPr>
            <a:r>
              <a:t>⚠️ Compliance Failures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Missed renewal deadlines result in heavy traffic fines and legal disputes.</a:t>
            </a:r>
          </a:p>
          <a:p>
            <a:pPr>
              <a:spcBef>
                <a:spcPts val="800"/>
              </a:spcBef>
              <a:defRPr sz="1400" b="1">
                <a:solidFill>
                  <a:srgbClr val="F8FAFC"/>
                </a:solidFill>
                <a:latin typeface="Trebuchet MS"/>
              </a:defRPr>
            </a:pPr>
            <a:r>
              <a:t>⚠️ Security Risks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Lack of geofencing triggers or real-time location alerts leaves vehicles vulnerable to theft.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39535" y="1645920"/>
            <a:ext cx="5120640" cy="4297680"/>
          </a:xfrm>
          <a:prstGeom prst="roundRect">
            <a:avLst/>
          </a:prstGeom>
          <a:solidFill>
            <a:srgbClr val="151C2D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13855" y="1874519"/>
            <a:ext cx="457200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EF4444"/>
                </a:solidFill>
                <a:latin typeface="Trebuchet MS"/>
              </a:defRPr>
            </a:pPr>
            <a:r>
              <a:t>Gaps in Existing Solutions</a:t>
            </a:r>
          </a:p>
          <a:p>
            <a:pPr>
              <a:spcBef>
                <a:spcPts val="800"/>
              </a:spcBef>
              <a:defRPr sz="1400" b="1">
                <a:solidFill>
                  <a:srgbClr val="F8FAFC"/>
                </a:solidFill>
                <a:latin typeface="Trebuchet MS"/>
              </a:defRPr>
            </a:pPr>
            <a:r>
              <a:t>✗ Government Portals (DigiLocker)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Static databases with zero proactive alert triggers. Poor user experience and no navigational utilities.</a:t>
            </a:r>
          </a:p>
          <a:p>
            <a:pPr>
              <a:spcBef>
                <a:spcPts val="800"/>
              </a:spcBef>
              <a:defRPr sz="1400" b="1">
                <a:solidFill>
                  <a:srgbClr val="F8FAFC"/>
                </a:solidFill>
                <a:latin typeface="Trebuchet MS"/>
              </a:defRPr>
            </a:pPr>
            <a:r>
              <a:t>✗ Standalone Apps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Cluttered with advertisements. Single-purpose and fail to link directly with government records.</a:t>
            </a:r>
          </a:p>
          <a:p>
            <a:pPr>
              <a:spcBef>
                <a:spcPts val="800"/>
              </a:spcBef>
              <a:defRPr sz="1400" b="1">
                <a:solidFill>
                  <a:srgbClr val="F8FAFC"/>
                </a:solidFill>
                <a:latin typeface="Trebuchet MS"/>
              </a:defRPr>
            </a:pPr>
            <a:r>
              <a:t>✗ Physical glove-box files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High risk of damage or loss; completely ineffective in security alerts or on-road emergencies.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Calibri"/>
              </a:defRPr>
            </a:pPr>
            <a:r>
              <a:t>02. ARCHITECTURE &amp;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Trebuchet MS"/>
              </a:defRPr>
            </a:pPr>
            <a:r>
              <a:t>Tech Stack &amp; User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6B6D4"/>
                </a:solidFill>
                <a:latin typeface="Trebuchet MS"/>
              </a:defRPr>
            </a:pPr>
            <a:r>
              <a:t>The Technology Stack</a:t>
            </a:r>
          </a:p>
          <a:p>
            <a:pPr>
              <a:spcBef>
                <a:spcPts val="800"/>
              </a:spcBef>
              <a:defRPr sz="1300" b="1">
                <a:solidFill>
                  <a:srgbClr val="F8FAFC"/>
                </a:solidFill>
                <a:latin typeface="Trebuchet MS"/>
              </a:defRPr>
            </a:pPr>
            <a:r>
              <a:t>💻 Frontend: 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    Next.js 15 · TypeScript · TailwindCSS · Framer Motion</a:t>
            </a:r>
          </a:p>
          <a:p>
            <a:pPr>
              <a:spcBef>
                <a:spcPts val="800"/>
              </a:spcBef>
              <a:defRPr sz="1300" b="1">
                <a:solidFill>
                  <a:srgbClr val="F8FAFC"/>
                </a:solidFill>
                <a:latin typeface="Trebuchet MS"/>
              </a:defRPr>
            </a:pPr>
            <a:r>
              <a:t>💻 Backend: 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    FastAPI · Python 3.12 · SQLAlchemy (async) · PostgreSQL · Redis</a:t>
            </a:r>
          </a:p>
          <a:p>
            <a:pPr>
              <a:spcBef>
                <a:spcPts val="800"/>
              </a:spcBef>
              <a:defRPr sz="1300" b="1">
                <a:solidFill>
                  <a:srgbClr val="F8FAFC"/>
                </a:solidFill>
                <a:latin typeface="Trebuchet MS"/>
              </a:defRPr>
            </a:pPr>
            <a:r>
              <a:t>💻 AI Copilot: 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    Google Gemini 2.0 Flash (Astra AI integration)</a:t>
            </a:r>
          </a:p>
          <a:p>
            <a:pPr>
              <a:spcBef>
                <a:spcPts val="800"/>
              </a:spcBef>
              <a:defRPr sz="1300" b="1">
                <a:solidFill>
                  <a:srgbClr val="F8FAFC"/>
                </a:solidFill>
                <a:latin typeface="Trebuchet MS"/>
              </a:defRPr>
            </a:pPr>
            <a:r>
              <a:t>💻 Security: 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    JWT Token Rotation · bcrypt password hashing · AES Fernet encryption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212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6366F1"/>
                </a:solidFill>
                <a:latin typeface="Trebuchet MS"/>
              </a:defRPr>
            </a:pPr>
            <a:r>
              <a:t>User &amp; Data Flow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Calibri"/>
              </a:defRPr>
            </a:pPr>
            <a:r>
              <a:t>1. User logins via OTP/OAuth ➔ 2. Garage pulls live DigiLocker &amp; e-Challan data ➔ 3. Astra AI assists user and displays telemetry on maps.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3383280"/>
            <a:ext cx="5212080" cy="2560320"/>
          </a:xfrm>
          <a:prstGeom prst="rect">
            <a:avLst/>
          </a:prstGeom>
          <a:solidFill>
            <a:srgbClr val="151C2D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anding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208" y="3401568"/>
            <a:ext cx="5175504" cy="252374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Calibri"/>
              </a:defRPr>
            </a:pPr>
            <a:r>
              <a:t>03. THE UNIFIED ECOSYSTEM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Trebuchet MS"/>
              </a:defRPr>
            </a:pPr>
            <a:r>
              <a:t>Our Solution: DriveVerse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6B6D4"/>
                </a:solidFill>
                <a:latin typeface="Trebuchet MS"/>
              </a:defRPr>
            </a:pPr>
            <a:r>
              <a:t>Core Pillars of DriveVerse</a:t>
            </a:r>
          </a:p>
          <a:p>
            <a:pPr>
              <a:spcBef>
                <a:spcPts val="800"/>
              </a:spcBef>
              <a:defRPr sz="1400" b="1">
                <a:solidFill>
                  <a:srgbClr val="F8FAFC"/>
                </a:solidFill>
                <a:latin typeface="Trebuchet MS"/>
              </a:defRPr>
            </a:pPr>
            <a:r>
              <a:t>⚡ Unified Garage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Track all vehicles in one hub with 7 switchable custom themes.</a:t>
            </a:r>
          </a:p>
          <a:p>
            <a:pPr>
              <a:spcBef>
                <a:spcPts val="800"/>
              </a:spcBef>
              <a:defRPr sz="1400" b="1">
                <a:solidFill>
                  <a:srgbClr val="F8FAFC"/>
                </a:solidFill>
                <a:latin typeface="Trebuchet MS"/>
              </a:defRPr>
            </a:pPr>
            <a:r>
              <a:t>⚡ Astra AI Co-Pilot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Gemini-powered voice and multilingual (EN/HI/MR) assistant.</a:t>
            </a:r>
          </a:p>
          <a:p>
            <a:pPr>
              <a:spcBef>
                <a:spcPts val="800"/>
              </a:spcBef>
              <a:defRPr sz="1400" b="1">
                <a:solidFill>
                  <a:srgbClr val="F8FAFC"/>
                </a:solidFill>
                <a:latin typeface="Trebuchet MS"/>
              </a:defRPr>
            </a:pPr>
            <a:r>
              <a:t>⚡ Integrated Doc Vault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Secure DigiLocker vault tracking DL, RC, PUC, Insurance expiries.</a:t>
            </a:r>
          </a:p>
          <a:p>
            <a:pPr>
              <a:spcBef>
                <a:spcPts val="800"/>
              </a:spcBef>
              <a:defRPr sz="1400" b="1">
                <a:solidFill>
                  <a:srgbClr val="F8FAFC"/>
                </a:solidFill>
                <a:latin typeface="Trebuchet MS"/>
              </a:defRPr>
            </a:pPr>
            <a:r>
              <a:t>⚡ Advanced Anti-Theft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Geofencing safe zones, tamper detection, and real-time OTP alerts.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645920"/>
            <a:ext cx="5212080" cy="4114800"/>
          </a:xfrm>
          <a:prstGeom prst="rect">
            <a:avLst/>
          </a:prstGeom>
          <a:solidFill>
            <a:srgbClr val="151C2D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in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208" y="1664208"/>
            <a:ext cx="5175504" cy="407822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Calibri"/>
              </a:defRPr>
            </a:pPr>
            <a:r>
              <a:t>04. SYSTEM WORKFLOW &amp;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Trebuchet MS"/>
              </a:defRPr>
            </a:pPr>
            <a:r>
              <a:t>How DriveVerse Avoids the Problems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  <a:latin typeface="Trebuchet MS"/>
              </a:defRPr>
            </a:pPr>
            <a:r>
              <a:t>🛡️ Automated Alerts (No Expiry Oversights)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Proactive 30/15/7 day expiry countdown alerts for Insurance &amp; PUC policies via Email &amp; SMS OTP ensure 100% compliance.</a:t>
            </a:r>
          </a:p>
          <a:p>
            <a:pPr>
              <a:spcBef>
                <a:spcPts val="1400"/>
              </a:spcBef>
              <a:defRPr sz="1500" b="1">
                <a:solidFill>
                  <a:srgbClr val="06B6D4"/>
                </a:solidFill>
                <a:latin typeface="Trebuchet MS"/>
              </a:defRPr>
            </a:pPr>
            <a:r>
              <a:t>🛡️ Geofencing Safe Zones (Active Theft Prevention)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Real-time geofence circles alert vehicle owners instantly if their vehicle moves outside safe boundaries or detects tamper events.</a:t>
            </a:r>
          </a:p>
          <a:p>
            <a:pPr>
              <a:spcBef>
                <a:spcPts val="1400"/>
              </a:spcBef>
              <a:defRPr sz="1500" b="1">
                <a:solidFill>
                  <a:srgbClr val="06B6D4"/>
                </a:solidFill>
                <a:latin typeface="Trebuchet MS"/>
              </a:defRPr>
            </a:pPr>
            <a:r>
              <a:t>🛡️ Live Navigation (Avoid Speed Traps &amp; Fines)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Integrates real-time speed limit indicators, road safety warnings, and live traffic alerts, keeping the driver informed and ticket-free.</a:t>
            </a:r>
          </a:p>
          <a:p>
            <a:pPr>
              <a:spcBef>
                <a:spcPts val="1400"/>
              </a:spcBef>
              <a:defRPr sz="1500" b="1">
                <a:solidFill>
                  <a:srgbClr val="06B6D4"/>
                </a:solidFill>
                <a:latin typeface="Trebuchet MS"/>
              </a:defRPr>
            </a:pPr>
            <a:r>
              <a:t>🛡️ Unified Challan Center (No Delinquency)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Direct e-Challan synchronization scans and alerts owners of traffic violations instantly, allowing immediate online resolution.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F8FAFC"/>
                </a:solidFill>
                <a:latin typeface="Trebuchet MS"/>
              </a:defRPr>
            </a:pPr>
            <a:r>
              <a:t>The DriveVerse Core Flow</a:t>
            </a:r>
          </a:p>
          <a:p>
            <a:pPr>
              <a:spcBef>
                <a:spcPts val="1000"/>
              </a:spcBef>
              <a:defRPr sz="1400" b="1">
                <a:solidFill>
                  <a:srgbClr val="6366F1"/>
                </a:solidFill>
                <a:latin typeface="Trebuchet MS"/>
              </a:defRPr>
            </a:pPr>
            <a:r>
              <a:t>1. Data Sync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FastAPI connects with DigiLocker, e-Challan APIs and Google Maps to collect active telemetry &amp; compliance details.</a:t>
            </a:r>
          </a:p>
          <a:p>
            <a:pPr>
              <a:spcBef>
                <a:spcPts val="1000"/>
              </a:spcBef>
              <a:defRPr sz="1400" b="1">
                <a:solidFill>
                  <a:srgbClr val="6366F1"/>
                </a:solidFill>
                <a:latin typeface="Trebuchet MS"/>
              </a:defRPr>
            </a:pPr>
            <a:r>
              <a:t>2. Astra AI Intelligence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Gemini AI parses user questions, navigation cues, and document status to formulate proactive driving recommendations.</a:t>
            </a:r>
          </a:p>
          <a:p>
            <a:pPr>
              <a:spcBef>
                <a:spcPts val="1000"/>
              </a:spcBef>
              <a:defRPr sz="1400" b="1">
                <a:solidFill>
                  <a:srgbClr val="6366F1"/>
                </a:solidFill>
                <a:latin typeface="Trebuchet MS"/>
              </a:defRPr>
            </a:pPr>
            <a:r>
              <a:t>3. Notification Hub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Redis queues route critical notifications (expiries, tamper alerts, geofence breaches) directly to user devices.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Calibri"/>
              </a:defRPr>
            </a:pPr>
            <a:r>
              <a:t>05. ROADMAP &amp; HURDLES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Trebuchet MS"/>
              </a:defRPr>
            </a:pPr>
            <a:r>
              <a:t>Challenges &amp; Future Vision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297680"/>
          </a:xfrm>
          <a:prstGeom prst="roundRect">
            <a:avLst/>
          </a:prstGeom>
          <a:solidFill>
            <a:srgbClr val="151C2D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457200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6B6D4"/>
                </a:solidFill>
                <a:latin typeface="Trebuchet MS"/>
              </a:defRPr>
            </a:pPr>
            <a:r>
              <a:t>Showstoppers &amp; Challenges</a:t>
            </a:r>
          </a:p>
          <a:p>
            <a:pPr>
              <a:spcBef>
                <a:spcPts val="1000"/>
              </a:spcBef>
              <a:defRPr sz="1400" b="1">
                <a:solidFill>
                  <a:srgbClr val="F8FAFC"/>
                </a:solidFill>
                <a:latin typeface="Trebuchet MS"/>
              </a:defRPr>
            </a:pPr>
            <a:r>
              <a:t>⚡ Legacy Government API Access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Integrating with regional RTO databases and state-specific e-Challan systems is complex due to slow response times and security protocols.</a:t>
            </a:r>
          </a:p>
          <a:p>
            <a:pPr>
              <a:spcBef>
                <a:spcPts val="1000"/>
              </a:spcBef>
              <a:defRPr sz="1400" b="1">
                <a:solidFill>
                  <a:srgbClr val="F8FAFC"/>
                </a:solidFill>
                <a:latin typeface="Trebuchet MS"/>
              </a:defRPr>
            </a:pPr>
            <a:r>
              <a:t>⚡ Offline Voice AI &amp; Navigation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Ensuring critical navigation alerts and Astra AI voice commands remain functional in areas with poor or zero cellular network connectivity.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39535" y="1645920"/>
            <a:ext cx="5120640" cy="4297680"/>
          </a:xfrm>
          <a:prstGeom prst="roundRect">
            <a:avLst/>
          </a:prstGeom>
          <a:solidFill>
            <a:srgbClr val="151C2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13855" y="1874519"/>
            <a:ext cx="457200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0B981"/>
                </a:solidFill>
                <a:latin typeface="Trebuchet MS"/>
              </a:defRPr>
            </a:pPr>
            <a:r>
              <a:t>Future Scope</a:t>
            </a:r>
          </a:p>
          <a:p>
            <a:pPr>
              <a:spcBef>
                <a:spcPts val="800"/>
              </a:spcBef>
              <a:defRPr sz="1400" b="1">
                <a:solidFill>
                  <a:srgbClr val="F8FAFC"/>
                </a:solidFill>
                <a:latin typeface="Trebuchet MS"/>
              </a:defRPr>
            </a:pPr>
            <a:r>
              <a:t>🚀 Predictive Vehicle Diagnostics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Deploying machine learning models to analyze engine telematics and predict parts wear-and-tear before a breakdown occurs.</a:t>
            </a:r>
          </a:p>
          <a:p>
            <a:pPr>
              <a:spcBef>
                <a:spcPts val="800"/>
              </a:spcBef>
              <a:defRPr sz="1400" b="1">
                <a:solidFill>
                  <a:srgbClr val="F8FAFC"/>
                </a:solidFill>
                <a:latin typeface="Trebuchet MS"/>
              </a:defRPr>
            </a:pPr>
            <a:r>
              <a:t>🚀 Smart Electric Vehicle (EV) Portal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Providing real-time battery analytics, health scoring, and smart route optimization mapped specifically through charging grids.</a:t>
            </a:r>
          </a:p>
          <a:p>
            <a:pPr>
              <a:spcBef>
                <a:spcPts val="800"/>
              </a:spcBef>
              <a:defRPr sz="1400" b="1">
                <a:solidFill>
                  <a:srgbClr val="F8FAFC"/>
                </a:solidFill>
                <a:latin typeface="Trebuchet MS"/>
              </a:defRPr>
            </a:pPr>
            <a:r>
              <a:t>🚀 Logistics &amp; Enterprise Fleet Portal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Scaling the architecture to support logistics operators, enabling them to track and manage compliance for hundreds of trucks in a single dashboard.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1371600"/>
            <a:ext cx="9448495" cy="4114800"/>
          </a:xfrm>
          <a:prstGeom prst="roundRect">
            <a:avLst/>
          </a:prstGeom>
          <a:solidFill>
            <a:srgbClr val="151C2D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828800"/>
            <a:ext cx="85340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8FAFC"/>
                </a:solidFill>
                <a:latin typeface="Trebuchet MS"/>
              </a:defRPr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926080"/>
            <a:ext cx="8534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i="1">
                <a:solidFill>
                  <a:srgbClr val="06B6D4"/>
                </a:solidFill>
                <a:latin typeface="Calibri"/>
              </a:defRPr>
            </a:pPr>
            <a:r>
              <a:t>Redefining Indian Mobility, Redesigning Driving Experiences.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931920"/>
            <a:ext cx="85340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94A3B8"/>
                </a:solidFill>
                <a:latin typeface="Calibri"/>
              </a:defRPr>
            </a:pPr>
            <a:r>
              <a:t>Project Team:</a:t>
            </a:r>
          </a:p>
          <a:p>
            <a:pPr algn="ctr">
              <a:defRPr sz="1800" b="1">
                <a:solidFill>
                  <a:srgbClr val="F8FAFC"/>
                </a:solidFill>
                <a:latin typeface="Trebuchet MS"/>
              </a:defRPr>
            </a:pPr>
            <a:r>
              <a:t>Rishik Jariwala  |  Jash Chothani</a:t>
            </a:r>
          </a:p>
          <a:p>
            <a:pPr algn="ctr">
              <a:spcBef>
                <a:spcPts val="800"/>
              </a:spcBef>
              <a:defRPr sz="1100">
                <a:solidFill>
                  <a:srgbClr val="6366F1"/>
                </a:solidFill>
                <a:latin typeface="Calibri"/>
              </a:defRPr>
            </a:pPr>
            <a:r>
              <a:t>DriveVerse — Built with Next.js, FastAPI, and Google Gemini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